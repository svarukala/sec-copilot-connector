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SEC Copilot Connector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Python-based Microsoft Graph Connector for SEC EDGAR Filings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Architecture &amp;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377440" cy="1097280"/>
          </a:xfrm>
          <a:prstGeom prst="round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 EDGAR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10-K, 10-Q, 8-K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DEF 14A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914400"/>
            <a:ext cx="2377440" cy="1097280"/>
          </a:xfrm>
          <a:prstGeom prst="round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 Connector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Parse HTML -&gt; Markdown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Smart Chunking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State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914400"/>
            <a:ext cx="2377440" cy="1097280"/>
          </a:xfrm>
          <a:prstGeom prst="roundRect">
            <a:avLst/>
          </a:prstGeom>
          <a:solidFill>
            <a:srgbClr val="006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MS Graph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External Items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Batch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914400"/>
            <a:ext cx="2377440" cy="1097280"/>
          </a:xfrm>
          <a:prstGeom prst="round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M365 Copilot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Search &amp; Reason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1325880"/>
            <a:ext cx="365760" cy="2286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6309360" y="1325880"/>
            <a:ext cx="365760" cy="2286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9326880" y="1325880"/>
            <a:ext cx="365760" cy="2286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Processing Pipeline</a:t>
            </a:r>
          </a:p>
        </p:txBody>
      </p:sp>
      <p:sp>
        <p:nvSpPr>
          <p:cNvPr id="11" name="Chevron 10"/>
          <p:cNvSpPr/>
          <p:nvPr/>
        </p:nvSpPr>
        <p:spPr>
          <a:xfrm>
            <a:off x="457200" y="2606040"/>
            <a:ext cx="2103120" cy="457200"/>
          </a:xfrm>
          <a:prstGeom prst="chevron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1760" y="2606040"/>
            <a:ext cx="2103120" cy="457200"/>
          </a:xfrm>
          <a:prstGeom prst="chevron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DOWNLOAD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606040"/>
            <a:ext cx="2103120" cy="457200"/>
          </a:xfrm>
          <a:prstGeom prst="chevron">
            <a:avLst/>
          </a:prstGeom>
          <a:solidFill>
            <a:srgbClr val="E67E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PARSE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0879" y="2606040"/>
            <a:ext cx="2103120" cy="457200"/>
          </a:xfrm>
          <a:prstGeom prst="chevron">
            <a:avLst/>
          </a:prstGeom>
          <a:solidFill>
            <a:srgbClr val="8E44A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</a:t>
            </a:r>
          </a:p>
        </p:txBody>
      </p:sp>
      <p:sp>
        <p:nvSpPr>
          <p:cNvPr id="15" name="Chevron 14"/>
          <p:cNvSpPr/>
          <p:nvPr/>
        </p:nvSpPr>
        <p:spPr>
          <a:xfrm>
            <a:off x="9235440" y="2606040"/>
            <a:ext cx="2103120" cy="457200"/>
          </a:xfrm>
          <a:prstGeom prst="chevron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Key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sec_client.py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SEC EDGAR API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Ticker-&gt;CIK mapping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Rate limiting (10 req/s)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parser.py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SGML/HTML parsing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Markdown conversion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20+ transformations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chunker.py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Page-based splitting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Size enforcement (4MB)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200-char overlap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state_manager.py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SQLite state tracking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Resume capability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Checkpointing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graph_client.py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MSAL auth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Batch uploads (20/req)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429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Graph Schema 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Title | Company | Ticker | Form | FilingDate | Description | Url | CIK | AccessionNumber |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440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aiohttp | BeautifulSoup | markdownify | MSAL | Pydantic | aiosqlite | Click/Rich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80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7C41"/>
                </a:solidFill>
              </a:defRPr>
            </a:pPr>
            <a:r>
              <a:t>Robustness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Exponential backoff (5 retries) | SQLite checkpointing | SEC rate limit (10/s) | Graph 429 handling | Error isolation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Improvements Over PowerShell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2396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7C41"/>
                </a:solidFill>
              </a:defRPr>
            </a:pPr>
            <a:r>
              <a:rPr dirty="0"/>
              <a:t>Key Improvements (vs SEC PowerShell</a:t>
            </a:r>
            <a:r>
              <a:rPr lang="en-US" dirty="0"/>
              <a:t> Solution</a:t>
            </a:r>
            <a:r>
              <a:rPr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    Feature                           PowerShell (Before)                                         Python (After)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Table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17320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Raw HTML tags (&lt;table&gt;&lt;tr&gt;&lt;td&gt;)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17320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Markdown tables (| Revenue | 394,328 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4650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Content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46504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Residual HTML in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46504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Clean Markdown, no HTML noise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114300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075688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Parsing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075688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25+ regex replacements (fragile)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75688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DOM-based BeautifulSoup (robust)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04872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Chunk Sizing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404872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No size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04872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4MB limit enforced, recursive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34056"/>
            <a:ext cx="114300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734056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Context Overlap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734056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Hard page boundary cuts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34056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200-char overlap for 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State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063239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Flat processed_ids.txt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63239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SQLite state machine with checkpoints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520440"/>
            <a:ext cx="5669280" cy="10515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7C41"/>
                </a:solidFill>
              </a:defRPr>
            </a:pPr>
            <a:r>
              <a:t>Why Tables Matter</a:t>
            </a:r>
          </a:p>
          <a:p>
            <a:pPr>
              <a:defRPr sz="1000">
                <a:solidFill>
                  <a:srgbClr val="003366"/>
                </a:solidFill>
              </a:defRPr>
            </a:pPr>
            <a:r>
              <a:t>SEC 10-K/10-Q are 40-60% tabular financial data. Markdown tables preserve label-to-value relationships for LLM reasoning:</a:t>
            </a:r>
          </a:p>
          <a:p>
            <a:pPr>
              <a:defRPr sz="1000" i="1">
                <a:solidFill>
                  <a:srgbClr val="808080"/>
                </a:solidFill>
              </a:defRPr>
            </a:pPr>
            <a:r>
              <a:t>"What was Apple's revenue?" -&gt; | Revenue | 394,328 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520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4048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Multi-ticker batch processing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Async downloads (5 concurrent)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Resume from any failure point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Test mode for quick validation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Progress bars &amp; rich 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54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Flexibility &amp;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Forms: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07492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10-K, 10-Q, 8-K, DEF 14A (configurable in YAML)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3095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Chunking: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33095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target_size, max_size, overlap - all tunable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86983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Connections: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86983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Multiple connectors with different connection IDs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43016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Payloads: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843016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--save-payloads flag to inspect content before upload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754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6464"/>
                </a:solidFill>
              </a:defRPr>
            </a:pPr>
            <a:r>
              <a:t>CLI Commands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074920"/>
            <a:ext cx="5486400" cy="1051560"/>
          </a:xfrm>
          <a:prstGeom prst="round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setup</a:t>
            </a:r>
          </a:p>
          <a:p>
            <a:pPr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ingest -t AAPL --test</a:t>
            </a:r>
          </a:p>
          <a:p>
            <a:pPr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status</a:t>
            </a:r>
          </a:p>
          <a:p>
            <a:pPr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resume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6172200"/>
            <a:ext cx="11430000" cy="5486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Quick Start:  pip install -e .  -&gt;  Set AZURE_* env vars  -&gt;  sec-connector setup  -&gt;  sec-connector ingest -t AAPL --test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453</Words>
  <Application>Microsoft Office PowerPoint</Application>
  <PresentationFormat>Widescreen</PresentationFormat>
  <Paragraphs>93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Srinivas Varukala</cp:lastModifiedBy>
  <cp:revision>2</cp:revision>
  <dcterms:created xsi:type="dcterms:W3CDTF">2013-01-27T09:14:16Z</dcterms:created>
  <dcterms:modified xsi:type="dcterms:W3CDTF">2026-04-16T21:25:32Z</dcterms:modified>
  <cp:category/>
</cp:coreProperties>
</file>